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V1HZvVTMTDAnH9o34hBPRBm8P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38AD21-213C-44FD-ACDC-7BFAC6105FCD}">
  <a:tblStyle styleId="{9338AD21-213C-44FD-ACDC-7BFAC6105FC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10058400" y="4206240"/>
            <a:ext cx="3840480" cy="384048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-1645920" y="493776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640080" y="2880360"/>
            <a:ext cx="640080" cy="128016"/>
          </a:xfrm>
          <a:prstGeom prst="roundRect">
            <a:avLst>
              <a:gd fmla="val 50000" name="adj"/>
            </a:avLst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621792" y="315468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Job Portal Management System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7868060" y="4222066"/>
            <a:ext cx="37021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9671537" y="4709161"/>
            <a:ext cx="2356339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R. Naga Venkata Kusumitha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 K. Lavanya Priya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L. Pravallika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G. Ahalya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 txBox="1"/>
          <p:nvPr/>
        </p:nvSpPr>
        <p:spPr>
          <a:xfrm>
            <a:off x="777240" y="2468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WHY THIS PROJECT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77240" y="493776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27;p2"/>
          <p:cNvCxnSpPr/>
          <p:nvPr/>
        </p:nvCxnSpPr>
        <p:spPr>
          <a:xfrm>
            <a:off x="457200" y="1170432"/>
            <a:ext cx="11292840" cy="0"/>
          </a:xfrm>
          <a:prstGeom prst="straightConnector1">
            <a:avLst/>
          </a:prstGeom>
          <a:noFill/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2"/>
          <p:cNvSpPr/>
          <p:nvPr/>
        </p:nvSpPr>
        <p:spPr>
          <a:xfrm>
            <a:off x="457200" y="1371600"/>
            <a:ext cx="6537960" cy="4937760"/>
          </a:xfrm>
          <a:prstGeom prst="roundRect">
            <a:avLst>
              <a:gd fmla="val 1852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 txBox="1"/>
          <p:nvPr/>
        </p:nvSpPr>
        <p:spPr>
          <a:xfrm>
            <a:off x="777240" y="1572768"/>
            <a:ext cx="5852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777240" y="1920240"/>
            <a:ext cx="5943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414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4A"/>
                </a:solidFill>
                <a:latin typeface="Calibri"/>
                <a:ea typeface="Calibri"/>
                <a:cs typeface="Calibri"/>
                <a:sym typeface="Calibri"/>
              </a:rPr>
              <a:t>Job seekers, employers, job postings, applications and interviews are often scattered across spreadsheets or disconnected tools — making it hard to track an application's journey, or to report on hiring activity.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777240" y="2907792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Design and implement a Job Portal database using MySQL to manage candidates, employers, jobs, applications and interviews.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77240" y="4023360"/>
            <a:ext cx="100584" cy="10058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 txBox="1"/>
          <p:nvPr/>
        </p:nvSpPr>
        <p:spPr>
          <a:xfrm>
            <a:off x="987552" y="3913632"/>
            <a:ext cx="5760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4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4A"/>
                </a:solidFill>
                <a:latin typeface="Calibri"/>
                <a:ea typeface="Calibri"/>
                <a:cs typeface="Calibri"/>
                <a:sym typeface="Calibri"/>
              </a:rPr>
              <a:t>Track candidates and employers in a single, consistent system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77240" y="4425696"/>
            <a:ext cx="100584" cy="10058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 txBox="1"/>
          <p:nvPr/>
        </p:nvSpPr>
        <p:spPr>
          <a:xfrm>
            <a:off x="987552" y="4315968"/>
            <a:ext cx="5760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4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4A"/>
                </a:solidFill>
                <a:latin typeface="Calibri"/>
                <a:ea typeface="Calibri"/>
                <a:cs typeface="Calibri"/>
                <a:sym typeface="Calibri"/>
              </a:rPr>
              <a:t>Link every job posting to its employer and manage openings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77240" y="4828032"/>
            <a:ext cx="100584" cy="10058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987552" y="4718304"/>
            <a:ext cx="5760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4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4A"/>
                </a:solidFill>
                <a:latin typeface="Calibri"/>
                <a:ea typeface="Calibri"/>
                <a:cs typeface="Calibri"/>
                <a:sym typeface="Calibri"/>
              </a:rPr>
              <a:t>Record each application's status, from Applied to Selected/Rejected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77240" y="5230368"/>
            <a:ext cx="100584" cy="10058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987552" y="5120640"/>
            <a:ext cx="5760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4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4A"/>
                </a:solidFill>
                <a:latin typeface="Calibri"/>
                <a:ea typeface="Calibri"/>
                <a:cs typeface="Calibri"/>
                <a:sym typeface="Calibri"/>
              </a:rPr>
              <a:t>Schedule and log interview outcomes tied to each application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77240" y="5632704"/>
            <a:ext cx="100584" cy="10058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 txBox="1"/>
          <p:nvPr/>
        </p:nvSpPr>
        <p:spPr>
          <a:xfrm>
            <a:off x="987552" y="5522976"/>
            <a:ext cx="5760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4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4A"/>
                </a:solidFill>
                <a:latin typeface="Calibri"/>
                <a:ea typeface="Calibri"/>
                <a:cs typeface="Calibri"/>
                <a:sym typeface="Calibri"/>
              </a:rPr>
              <a:t>Enable joins, views, procedures &amp; triggers for reporting and automation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7360920" y="1371600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Core Entities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360920" y="1755648"/>
            <a:ext cx="4343400" cy="786384"/>
          </a:xfrm>
          <a:prstGeom prst="roundRect">
            <a:avLst>
              <a:gd fmla="val 9302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516368" y="1901952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7516368" y="19019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8156448" y="1847088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Candidates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8156448" y="2139696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Job seekers registered on the portal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360920" y="2651760"/>
            <a:ext cx="4343400" cy="786384"/>
          </a:xfrm>
          <a:prstGeom prst="roundRect">
            <a:avLst>
              <a:gd fmla="val 9302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516368" y="2798064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7516368" y="279806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8156448" y="2743200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Employers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8156448" y="3035808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Companies posting job openings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360920" y="3547872"/>
            <a:ext cx="4343400" cy="786384"/>
          </a:xfrm>
          <a:prstGeom prst="roundRect">
            <a:avLst>
              <a:gd fmla="val 9302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516368" y="3694176"/>
            <a:ext cx="502920" cy="50292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7516368" y="36941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8156448" y="3639312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8156448" y="39319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Postings created by employers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360920" y="4443984"/>
            <a:ext cx="4343400" cy="786384"/>
          </a:xfrm>
          <a:prstGeom prst="roundRect">
            <a:avLst>
              <a:gd fmla="val 9302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7516368" y="4590288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 txBox="1"/>
          <p:nvPr/>
        </p:nvSpPr>
        <p:spPr>
          <a:xfrm>
            <a:off x="7516368" y="45902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8156448" y="4535424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8156448" y="482803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Candidate applications to jobs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360920" y="5340096"/>
            <a:ext cx="4343400" cy="786384"/>
          </a:xfrm>
          <a:prstGeom prst="roundRect">
            <a:avLst>
              <a:gd fmla="val 9302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7516368" y="548640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7516368" y="5486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8156448" y="5431536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Interviews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8156448" y="5724144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Interview records tied to applications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 txBox="1"/>
          <p:nvPr/>
        </p:nvSpPr>
        <p:spPr>
          <a:xfrm>
            <a:off x="777240" y="2468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SCHEMA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777240" y="493776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Database Design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3"/>
          <p:cNvCxnSpPr/>
          <p:nvPr/>
        </p:nvCxnSpPr>
        <p:spPr>
          <a:xfrm>
            <a:off x="457200" y="1170432"/>
            <a:ext cx="11292840" cy="0"/>
          </a:xfrm>
          <a:prstGeom prst="straightConnector1">
            <a:avLst/>
          </a:prstGeom>
          <a:noFill/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76" name="Google Shape;76;p3"/>
          <p:cNvGraphicFramePr/>
          <p:nvPr/>
        </p:nvGraphicFramePr>
        <p:xfrm>
          <a:off x="54864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{9338AD21-213C-44FD-ACDC-7BFAC6105FCD}</a:tableStyleId>
              </a:tblPr>
              <a:tblGrid>
                <a:gridCol w="2400000"/>
                <a:gridCol w="8694725"/>
              </a:tblGrid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Columns (PK / FK / constraints)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Candidates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candidate_id PK, full_name, phone UNIQUE, email UNIQUE, city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Employers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employer_id PK, company_name, industry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Jobs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job_id PK, employer_id FK, title, location, salary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Applications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application_id PK, candidate_id FK, job_id FK, application_date, status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Interviews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interview_id PK, application_id FK, interview_date, mode, result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 txBox="1"/>
          <p:nvPr/>
        </p:nvSpPr>
        <p:spPr>
          <a:xfrm>
            <a:off x="777240" y="2468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SCHEMA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777240" y="493776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Database Design — ER Diagram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4"/>
          <p:cNvCxnSpPr/>
          <p:nvPr/>
        </p:nvCxnSpPr>
        <p:spPr>
          <a:xfrm>
            <a:off x="457200" y="1170432"/>
            <a:ext cx="11292840" cy="0"/>
          </a:xfrm>
          <a:prstGeom prst="straightConnector1">
            <a:avLst/>
          </a:prstGeom>
          <a:noFill/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4"/>
          <p:cNvSpPr/>
          <p:nvPr/>
        </p:nvSpPr>
        <p:spPr>
          <a:xfrm>
            <a:off x="457200" y="1298448"/>
            <a:ext cx="11292840" cy="4114800"/>
          </a:xfrm>
          <a:prstGeom prst="roundRect">
            <a:avLst>
              <a:gd fmla="val 1778" name="adj"/>
            </a:avLst>
          </a:prstGeom>
          <a:solidFill>
            <a:srgbClr val="F4F8FA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548640" y="5596128"/>
            <a:ext cx="2697480" cy="457200"/>
          </a:xfrm>
          <a:prstGeom prst="roundRect">
            <a:avLst>
              <a:gd fmla="val 16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 txBox="1"/>
          <p:nvPr/>
        </p:nvSpPr>
        <p:spPr>
          <a:xfrm>
            <a:off x="548640" y="5596128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Employers (1) → Jobs (M)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364992" y="5596128"/>
            <a:ext cx="2697480" cy="457200"/>
          </a:xfrm>
          <a:prstGeom prst="roundRect">
            <a:avLst>
              <a:gd fmla="val 16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 txBox="1"/>
          <p:nvPr/>
        </p:nvSpPr>
        <p:spPr>
          <a:xfrm>
            <a:off x="3364992" y="5596128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Candidates (1) → Applications (M)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181344" y="5596128"/>
            <a:ext cx="2697480" cy="457200"/>
          </a:xfrm>
          <a:prstGeom prst="roundRect">
            <a:avLst>
              <a:gd fmla="val 16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 txBox="1"/>
          <p:nvPr/>
        </p:nvSpPr>
        <p:spPr>
          <a:xfrm>
            <a:off x="6181344" y="5596128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Jobs (1) → Applications (M)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8997696" y="5596128"/>
            <a:ext cx="2697480" cy="457200"/>
          </a:xfrm>
          <a:prstGeom prst="roundRect">
            <a:avLst>
              <a:gd fmla="val 16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 txBox="1"/>
          <p:nvPr/>
        </p:nvSpPr>
        <p:spPr>
          <a:xfrm>
            <a:off x="8997696" y="5596128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Applications (1) → Interviews (M)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548640" y="618134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Five normalized tables connected by primary and foreign keys — Candidates, Employers, Jobs, Applications and Interviews.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4" title="erdplus.png"/>
          <p:cNvPicPr preferRelativeResize="0"/>
          <p:nvPr/>
        </p:nvPicPr>
        <p:blipFill rotWithShape="1">
          <a:blip r:embed="rId3">
            <a:alphaModFix/>
          </a:blip>
          <a:srcRect b="3968" l="0" r="0" t="3977"/>
          <a:stretch/>
        </p:blipFill>
        <p:spPr>
          <a:xfrm>
            <a:off x="406885" y="1229878"/>
            <a:ext cx="11393485" cy="4178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 txBox="1"/>
          <p:nvPr/>
        </p:nvSpPr>
        <p:spPr>
          <a:xfrm>
            <a:off x="777240" y="2468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SAMPLE 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777240" y="493776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Sample Data — Candidates, Employers &amp; Jobs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5"/>
          <p:cNvCxnSpPr/>
          <p:nvPr/>
        </p:nvCxnSpPr>
        <p:spPr>
          <a:xfrm>
            <a:off x="457200" y="1170432"/>
            <a:ext cx="11292840" cy="0"/>
          </a:xfrm>
          <a:prstGeom prst="straightConnector1">
            <a:avLst/>
          </a:prstGeom>
          <a:noFill/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5"/>
          <p:cNvSpPr txBox="1"/>
          <p:nvPr/>
        </p:nvSpPr>
        <p:spPr>
          <a:xfrm>
            <a:off x="548640" y="1330000"/>
            <a:ext cx="54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Candidates</a:t>
            </a:r>
            <a:endParaRPr/>
          </a:p>
        </p:txBody>
      </p:sp>
      <p:graphicFrame>
        <p:nvGraphicFramePr>
          <p:cNvPr id="106" name="Google Shape;106;p5"/>
          <p:cNvGraphicFramePr/>
          <p:nvPr/>
        </p:nvGraphicFramePr>
        <p:xfrm>
          <a:off x="548640" y="16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{9338AD21-213C-44FD-ACDC-7BFAC6105FCD}</a:tableStyleId>
              </a:tblPr>
              <a:tblGrid>
                <a:gridCol w="1173925"/>
                <a:gridCol w="939125"/>
                <a:gridCol w="1017400"/>
                <a:gridCol w="1173925"/>
                <a:gridCol w="1095650"/>
              </a:tblGrid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candidate_id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full_name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city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Aarav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900000001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c1@mail.com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Hyderabad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Bhavya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900000002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c2@mail.com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Vijayawada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Charan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900000003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c3@mail.com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Vizag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Divya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900000004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c4@mail.com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Guntur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Esha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900000005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c5@mail.com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Warangal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Farhan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900000006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c6@mail.com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Nellore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Gopi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900000007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c7@mail.com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Kurnool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Hari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900000008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c8@mail.com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Tirupati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Isha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900000009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c9@mail.com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Chennai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900000010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c10@mail.com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Bengaluru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107" name="Google Shape;107;p5"/>
          <p:cNvSpPr txBox="1"/>
          <p:nvPr/>
        </p:nvSpPr>
        <p:spPr>
          <a:xfrm>
            <a:off x="6248640" y="1330000"/>
            <a:ext cx="539472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Employers</a:t>
            </a:r>
            <a:endParaRPr/>
          </a:p>
        </p:txBody>
      </p:sp>
      <p:graphicFrame>
        <p:nvGraphicFramePr>
          <p:cNvPr id="108" name="Google Shape;108;p5"/>
          <p:cNvGraphicFramePr/>
          <p:nvPr/>
        </p:nvGraphicFramePr>
        <p:xfrm>
          <a:off x="6248640" y="16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{9338AD21-213C-44FD-ACDC-7BFAC6105FCD}</a:tableStyleId>
              </a:tblPr>
              <a:tblGrid>
                <a:gridCol w="1703600"/>
                <a:gridCol w="1987525"/>
                <a:gridCol w="1703600"/>
              </a:tblGrid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employer_id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company_name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industry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TechNova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DataWave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Analytics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CloudEdge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FinCore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105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HealthSoft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Healthcare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5"/>
          <p:cNvSpPr txBox="1"/>
          <p:nvPr/>
        </p:nvSpPr>
        <p:spPr>
          <a:xfrm>
            <a:off x="6248640" y="3830000"/>
            <a:ext cx="539472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  <a:endParaRPr/>
          </a:p>
        </p:txBody>
      </p:sp>
      <p:graphicFrame>
        <p:nvGraphicFramePr>
          <p:cNvPr id="110" name="Google Shape;110;p5"/>
          <p:cNvGraphicFramePr/>
          <p:nvPr/>
        </p:nvGraphicFramePr>
        <p:xfrm>
          <a:off x="6248640" y="41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{9338AD21-213C-44FD-ACDC-7BFAC6105FCD}</a:tableStyleId>
              </a:tblPr>
              <a:tblGrid>
                <a:gridCol w="809200"/>
                <a:gridCol w="1078950"/>
                <a:gridCol w="1528500"/>
                <a:gridCol w="1078950"/>
                <a:gridCol w="899125"/>
              </a:tblGrid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job_id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employer_id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title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location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1001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Developer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Hyderabad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650000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1002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SQL Developer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Hyderabad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550000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1003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Analyst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Vizag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600000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1004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Engineer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Bengaluru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850000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1005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 Developer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Chennai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700000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1006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105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 Engineer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Hyderabad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950000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 txBox="1"/>
          <p:nvPr/>
        </p:nvSpPr>
        <p:spPr>
          <a:xfrm>
            <a:off x="777240" y="2468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SAMPLE 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777240" y="493776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Sample Data — Applications &amp; Interviews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6"/>
          <p:cNvCxnSpPr/>
          <p:nvPr/>
        </p:nvCxnSpPr>
        <p:spPr>
          <a:xfrm>
            <a:off x="457200" y="1170432"/>
            <a:ext cx="11292840" cy="0"/>
          </a:xfrm>
          <a:prstGeom prst="straightConnector1">
            <a:avLst/>
          </a:prstGeom>
          <a:noFill/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6"/>
          <p:cNvSpPr txBox="1"/>
          <p:nvPr/>
        </p:nvSpPr>
        <p:spPr>
          <a:xfrm>
            <a:off x="548640" y="1330000"/>
            <a:ext cx="54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/>
          </a:p>
        </p:txBody>
      </p:sp>
      <p:graphicFrame>
        <p:nvGraphicFramePr>
          <p:cNvPr id="120" name="Google Shape;120;p6"/>
          <p:cNvGraphicFramePr/>
          <p:nvPr/>
        </p:nvGraphicFramePr>
        <p:xfrm>
          <a:off x="548640" y="16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{9338AD21-213C-44FD-ACDC-7BFAC6105FCD}</a:tableStyleId>
              </a:tblPr>
              <a:tblGrid>
                <a:gridCol w="1234275"/>
                <a:gridCol w="1157150"/>
                <a:gridCol w="771425"/>
                <a:gridCol w="1234275"/>
                <a:gridCol w="1002850"/>
              </a:tblGrid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application_id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candidate_id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job_id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application_date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1001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2026-07-01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Applied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1003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2026-07-02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Shortlisted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1002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2026-07-02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Rejected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1004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2026-07-03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Interview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1005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2026-07-03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Selected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1006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2026-07-04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Applied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1001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2026-07-05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Interview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1002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2026-07-06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Shortlisted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1004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2026-07-07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Applied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1006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2026-07-08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Selected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121" name="Google Shape;121;p6"/>
          <p:cNvSpPr txBox="1"/>
          <p:nvPr/>
        </p:nvSpPr>
        <p:spPr>
          <a:xfrm>
            <a:off x="6248640" y="1330000"/>
            <a:ext cx="539472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Interviews</a:t>
            </a:r>
            <a:endParaRPr/>
          </a:p>
        </p:txBody>
      </p:sp>
      <p:graphicFrame>
        <p:nvGraphicFramePr>
          <p:cNvPr id="122" name="Google Shape;122;p6"/>
          <p:cNvGraphicFramePr/>
          <p:nvPr/>
        </p:nvGraphicFramePr>
        <p:xfrm>
          <a:off x="6248640" y="16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{9338AD21-213C-44FD-ACDC-7BFAC6105FCD}</a:tableStyleId>
              </a:tblPr>
              <a:tblGrid>
                <a:gridCol w="1113200"/>
                <a:gridCol w="1370075"/>
                <a:gridCol w="1284450"/>
                <a:gridCol w="770675"/>
                <a:gridCol w="856300"/>
              </a:tblGrid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interview_id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application_id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interview_date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2026-07-05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Pending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2026-07-06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Offline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Pending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2026-07-07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Selected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204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2026-07-08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Offline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Rejected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205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2026-07-09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Pending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206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2026-07-10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Offline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Selected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 txBox="1"/>
          <p:nvPr/>
        </p:nvSpPr>
        <p:spPr>
          <a:xfrm>
            <a:off x="777240" y="2468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QUERY TYPE · JOINS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777240" y="493776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Multi-Table Joins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0561320" y="457200"/>
            <a:ext cx="1554480" cy="292608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10561320" y="45720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#28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7"/>
          <p:cNvCxnSpPr/>
          <p:nvPr/>
        </p:nvCxnSpPr>
        <p:spPr>
          <a:xfrm>
            <a:off x="457200" y="1170432"/>
            <a:ext cx="11292840" cy="0"/>
          </a:xfrm>
          <a:prstGeom prst="straightConnector1">
            <a:avLst/>
          </a:prstGeom>
          <a:noFill/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7"/>
          <p:cNvSpPr txBox="1"/>
          <p:nvPr/>
        </p:nvSpPr>
        <p:spPr>
          <a:xfrm>
            <a:off x="548640" y="1298448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Interview details with candidate &amp; company information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48640" y="1664208"/>
            <a:ext cx="11109960" cy="1965960"/>
          </a:xfrm>
          <a:prstGeom prst="roundRect">
            <a:avLst>
              <a:gd fmla="val 3721" name="adj"/>
            </a:avLst>
          </a:prstGeom>
          <a:solidFill>
            <a:srgbClr val="0B2545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749808" y="1792224"/>
            <a:ext cx="10707624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SELECT i.interview_id, c.full_name, e.company_name, j.title,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       i.interview_date, i.mode, i.result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FROM Interviews 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JOIN Applications a ON i.application_id = a.application_id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JOIN Candidates   c ON a.candidate_id   = c.candidate_id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JOIN Jobs         j ON a.job_id         = j.job_id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JOIN Employers    e ON j.employer_id    = e.employer_id;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548640" y="37033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 four-way join chains Interviews → Applications → Candidates / Jobs → Employers into one readable report row.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" name="Google Shape;138;p7"/>
          <p:cNvGraphicFramePr/>
          <p:nvPr/>
        </p:nvGraphicFramePr>
        <p:xfrm>
          <a:off x="548640" y="411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{9338AD21-213C-44FD-ACDC-7BFAC6105FCD}</a:tableStyleId>
              </a:tblPr>
              <a:tblGrid>
                <a:gridCol w="1417325"/>
                <a:gridCol w="1417325"/>
                <a:gridCol w="1691650"/>
                <a:gridCol w="2331725"/>
                <a:gridCol w="1508750"/>
                <a:gridCol w="1280150"/>
                <a:gridCol w="1463050"/>
              </a:tblGrid>
              <a:tr h="32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interview_id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full_name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company_name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title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interview_date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  <a:tr h="32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Divya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CloudEdge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Engineer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Offline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Esha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FinCore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 Developer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2026-07-07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Selected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32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Gopi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TechNova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Developer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Offline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Rejected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TechNova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SQL Developer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32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HealthSoft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 Engineer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2026-07-10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Offline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Selected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7"/>
          <p:cNvSpPr txBox="1"/>
          <p:nvPr/>
        </p:nvSpPr>
        <p:spPr>
          <a:xfrm>
            <a:off x="548640" y="614476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Output: 5 rows returned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 txBox="1"/>
          <p:nvPr/>
        </p:nvSpPr>
        <p:spPr>
          <a:xfrm>
            <a:off x="777240" y="2468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QUERY TYPE · VIEWS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777240" y="493776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Views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0561320" y="457200"/>
            <a:ext cx="1554480" cy="292608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10561320" y="45720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#32-34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8"/>
          <p:cNvCxnSpPr/>
          <p:nvPr/>
        </p:nvCxnSpPr>
        <p:spPr>
          <a:xfrm>
            <a:off x="457200" y="1170432"/>
            <a:ext cx="11292840" cy="0"/>
          </a:xfrm>
          <a:prstGeom prst="straightConnector1">
            <a:avLst/>
          </a:prstGeom>
          <a:noFill/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8"/>
          <p:cNvSpPr txBox="1"/>
          <p:nvPr/>
        </p:nvSpPr>
        <p:spPr>
          <a:xfrm>
            <a:off x="548640" y="129844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View: Selected_Candidates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48640" y="1645920"/>
            <a:ext cx="5486400" cy="1965960"/>
          </a:xfrm>
          <a:prstGeom prst="roundRect">
            <a:avLst>
              <a:gd fmla="val 3721" name="adj"/>
            </a:avLst>
          </a:prstGeom>
          <a:solidFill>
            <a:srgbClr val="0B2545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 txBox="1"/>
          <p:nvPr/>
        </p:nvSpPr>
        <p:spPr>
          <a:xfrm>
            <a:off x="749808" y="1773936"/>
            <a:ext cx="5084064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CREATE VIEW Selected_Candidates 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SELECT c.full_name, e.company_name, j.title,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       j.location, j.salary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FROM Candidates c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JOIN Applications a ON c.candidate_id = a.candidate_id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JOIN Jobs j ON a.job_id = j.job_id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JOIN Employers e ON j.employer_id = e.employer_id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WHERE a.status = 'Selected';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4" name="Google Shape;154;p8"/>
          <p:cNvGraphicFramePr/>
          <p:nvPr/>
        </p:nvGraphicFramePr>
        <p:xfrm>
          <a:off x="548640" y="3749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{9338AD21-213C-44FD-ACDC-7BFAC6105FCD}</a:tableStyleId>
              </a:tblPr>
              <a:tblGrid>
                <a:gridCol w="1005850"/>
                <a:gridCol w="1188725"/>
                <a:gridCol w="1280150"/>
                <a:gridCol w="1097275"/>
                <a:gridCol w="914400"/>
              </a:tblGrid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full_name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company_name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Esha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FinCore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 Developer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Chennai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700000.00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HealthSoft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 Engineer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Hyderabad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950000.00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8"/>
          <p:cNvSpPr txBox="1"/>
          <p:nvPr/>
        </p:nvSpPr>
        <p:spPr>
          <a:xfrm>
            <a:off x="548640" y="4736592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Lists candidates whose applications reached 'Selected', joined with employer and job details.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6309360" y="1298448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View: active_job_postingss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309360" y="1645920"/>
            <a:ext cx="5349240" cy="1965960"/>
          </a:xfrm>
          <a:prstGeom prst="roundRect">
            <a:avLst>
              <a:gd fmla="val 3721" name="adj"/>
            </a:avLst>
          </a:prstGeom>
          <a:solidFill>
            <a:srgbClr val="0B2545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 txBox="1"/>
          <p:nvPr/>
        </p:nvSpPr>
        <p:spPr>
          <a:xfrm>
            <a:off x="6510528" y="1773936"/>
            <a:ext cx="4946904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CREATE VIEW active_job_postingss 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SELECT DISTINCT j.job_id, j.title, j.location, j.salary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FROM Jobs j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JOIN Applications a ON j.job_id = a.job_id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WHERE a.status &lt;&gt; 'Rejected';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active_job_postingss;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6309360" y="3749040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Surfaces every job that still has at least one non-rejected application — a live feed of jobs worth reviewing.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309360" y="4343400"/>
            <a:ext cx="5349240" cy="1417320"/>
          </a:xfrm>
          <a:prstGeom prst="roundRect">
            <a:avLst>
              <a:gd fmla="val 5161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6492240" y="452628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 txBox="1"/>
          <p:nvPr/>
        </p:nvSpPr>
        <p:spPr>
          <a:xfrm>
            <a:off x="6492240" y="4526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7178040" y="4480560"/>
            <a:ext cx="42976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414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4A"/>
                </a:solidFill>
                <a:latin typeface="Calibri"/>
                <a:ea typeface="Calibri"/>
                <a:cs typeface="Calibri"/>
                <a:sym typeface="Calibri"/>
              </a:rPr>
              <a:t>Views compose complex, repeated joins into a single reusable virtual table — the base query never needs to be retyped for reporting.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548640" y="614476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Both views stay read-only projections and refresh automatically as base-table data changes.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 txBox="1"/>
          <p:nvPr/>
        </p:nvSpPr>
        <p:spPr>
          <a:xfrm>
            <a:off x="777240" y="2468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DATA SAFETY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777240" y="493776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Transactions — COMMIT &amp; ROLLBACK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10561320" y="457200"/>
            <a:ext cx="1554480" cy="292608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10561320" y="45720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#35-36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9"/>
          <p:cNvCxnSpPr/>
          <p:nvPr/>
        </p:nvCxnSpPr>
        <p:spPr>
          <a:xfrm>
            <a:off x="457200" y="1170432"/>
            <a:ext cx="11292840" cy="0"/>
          </a:xfrm>
          <a:prstGeom prst="straightConnector1">
            <a:avLst/>
          </a:prstGeom>
          <a:noFill/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9"/>
          <p:cNvSpPr txBox="1"/>
          <p:nvPr/>
        </p:nvSpPr>
        <p:spPr>
          <a:xfrm>
            <a:off x="548640" y="129844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Scenario A - Update status, then commit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48640" y="1664208"/>
            <a:ext cx="5486400" cy="1417320"/>
          </a:xfrm>
          <a:prstGeom prst="roundRect">
            <a:avLst>
              <a:gd fmla="val 5161" name="adj"/>
            </a:avLst>
          </a:prstGeom>
          <a:solidFill>
            <a:srgbClr val="0B2545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 txBox="1"/>
          <p:nvPr/>
        </p:nvSpPr>
        <p:spPr>
          <a:xfrm>
            <a:off x="749808" y="1792224"/>
            <a:ext cx="5084064" cy="116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250"/>
              <a:buFont typeface="Courier New"/>
              <a:buNone/>
            </a:pPr>
            <a:r>
              <a:rPr lang="en-US" sz="12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START TRANSACTION;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250"/>
              <a:buFont typeface="Courier New"/>
              <a:buNone/>
            </a:pPr>
            <a:r>
              <a:rPr lang="en-US" sz="12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UPDATE Applications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250"/>
              <a:buFont typeface="Courier New"/>
              <a:buNone/>
            </a:pPr>
            <a:r>
              <a:rPr lang="en-US" sz="12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SET status = 'Interview Scheduled'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250"/>
              <a:buFont typeface="Courier New"/>
              <a:buNone/>
            </a:pPr>
            <a:r>
              <a:rPr lang="en-US" sz="12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WHERE application_id = 4;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250"/>
              <a:buFont typeface="Courier New"/>
              <a:buNone/>
            </a:pPr>
            <a:r>
              <a:rPr lang="en-US" sz="12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COMMIT;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48640" y="3200400"/>
            <a:ext cx="5486400" cy="777240"/>
          </a:xfrm>
          <a:prstGeom prst="roundRect">
            <a:avLst>
              <a:gd fmla="val 9412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 txBox="1"/>
          <p:nvPr/>
        </p:nvSpPr>
        <p:spPr>
          <a:xfrm>
            <a:off x="777240" y="320040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1 row(s) affected</a:t>
            </a:r>
            <a:r>
              <a:rPr lang="en-US" sz="115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  ·  Rows matched: 1, Changed: 0  ·  </a:t>
            </a:r>
            <a:r>
              <a:rPr b="1" lang="en-US" sz="115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lang="en-US" sz="115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 makes the change permanent.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6309360" y="1298448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Scenario B - Accidental delete, then rollback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309360" y="1664208"/>
            <a:ext cx="5349240" cy="1691640"/>
          </a:xfrm>
          <a:prstGeom prst="roundRect">
            <a:avLst>
              <a:gd fmla="val 4324" name="adj"/>
            </a:avLst>
          </a:prstGeom>
          <a:solidFill>
            <a:srgbClr val="0B2545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 txBox="1"/>
          <p:nvPr/>
        </p:nvSpPr>
        <p:spPr>
          <a:xfrm>
            <a:off x="6510528" y="1792224"/>
            <a:ext cx="4946904" cy="1435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250"/>
              <a:buFont typeface="Courier New"/>
              <a:buNone/>
            </a:pPr>
            <a:r>
              <a:rPr lang="en-US" sz="12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START TRANSACTION;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250"/>
              <a:buFont typeface="Courier New"/>
              <a:buNone/>
            </a:pPr>
            <a:r>
              <a:rPr lang="en-US" sz="12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DELETE FROM Interviews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250"/>
              <a:buFont typeface="Courier New"/>
              <a:buNone/>
            </a:pPr>
            <a:r>
              <a:rPr lang="en-US" sz="12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WHERE application_id = 10;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250"/>
              <a:buFont typeface="Courier New"/>
              <a:buNone/>
            </a:pPr>
            <a:r>
              <a:rPr lang="en-US" sz="12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DELETE FROM Applications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250"/>
              <a:buFont typeface="Courier New"/>
              <a:buNone/>
            </a:pPr>
            <a:r>
              <a:rPr lang="en-US" sz="12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WHERE application_id = 10;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250"/>
              <a:buFont typeface="Courier New"/>
              <a:buNone/>
            </a:pPr>
            <a:r>
              <a:rPr lang="en-US" sz="12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ROLLBACK;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309360" y="3474720"/>
            <a:ext cx="5349240" cy="777240"/>
          </a:xfrm>
          <a:prstGeom prst="roundRect">
            <a:avLst>
              <a:gd fmla="val 9412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6537960" y="347472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ROLLBACK</a:t>
            </a:r>
            <a:r>
              <a:rPr lang="en-US" sz="115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 undoes both deletes — the interview and application records are fully restored.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48640" y="4434840"/>
            <a:ext cx="11109960" cy="1417320"/>
          </a:xfrm>
          <a:prstGeom prst="roundRect">
            <a:avLst>
              <a:gd fmla="val 6452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822960" y="4709160"/>
            <a:ext cx="548640" cy="5486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822960" y="47091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1554480" y="455371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transactions matter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1554480" y="4828032"/>
            <a:ext cx="9692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START TRANSACTION groups multiple statements into one atomic unit. COMMIT persists every change together; ROLLBACK reverses every change together — so a status update or a multi-table delete either fully succeeds or leaves no partial trace.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548640" y="605332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Transactions protect multi-step updates so the database never ends up in a half-changed state.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 txBox="1"/>
          <p:nvPr/>
        </p:nvSpPr>
        <p:spPr>
          <a:xfrm>
            <a:off x="777240" y="2468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REUSABLE LOGIC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777240" y="493776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Stored Procedures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10561320" y="457200"/>
            <a:ext cx="1554480" cy="292608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 txBox="1"/>
          <p:nvPr/>
        </p:nvSpPr>
        <p:spPr>
          <a:xfrm>
            <a:off x="10561320" y="45720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#37-38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0"/>
          <p:cNvCxnSpPr/>
          <p:nvPr/>
        </p:nvCxnSpPr>
        <p:spPr>
          <a:xfrm>
            <a:off x="457200" y="1170432"/>
            <a:ext cx="11292840" cy="0"/>
          </a:xfrm>
          <a:prstGeom prst="straightConnector1">
            <a:avLst/>
          </a:prstGeom>
          <a:noFill/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10"/>
          <p:cNvSpPr txBox="1"/>
          <p:nvPr/>
        </p:nvSpPr>
        <p:spPr>
          <a:xfrm>
            <a:off x="548640" y="129844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display_jobs(employer_id)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548640" y="1645920"/>
            <a:ext cx="5486400" cy="2148840"/>
          </a:xfrm>
          <a:prstGeom prst="roundRect">
            <a:avLst>
              <a:gd fmla="val 3404" name="adj"/>
            </a:avLst>
          </a:prstGeom>
          <a:solidFill>
            <a:srgbClr val="0B2545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 txBox="1"/>
          <p:nvPr/>
        </p:nvSpPr>
        <p:spPr>
          <a:xfrm>
            <a:off x="749808" y="1773936"/>
            <a:ext cx="5084064" cy="1892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DELIMITER //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CREATE PROCEDURE display_jobs(IN emp_id INT)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  SELECT title, location, salary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  FROM Jobs WHERE employer_id = emp_id;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END //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CALL display_jobs(103);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6" name="Google Shape;206;p10"/>
          <p:cNvGraphicFramePr/>
          <p:nvPr/>
        </p:nvGraphicFramePr>
        <p:xfrm>
          <a:off x="548640" y="3913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{9338AD21-213C-44FD-ACDC-7BFAC6105FCD}</a:tableStyleId>
              </a:tblPr>
              <a:tblGrid>
                <a:gridCol w="2011675"/>
                <a:gridCol w="1737350"/>
                <a:gridCol w="1737350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title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Engineer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Bengaluru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850000.00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7" name="Google Shape;207;p10"/>
          <p:cNvSpPr txBox="1"/>
          <p:nvPr/>
        </p:nvSpPr>
        <p:spPr>
          <a:xfrm>
            <a:off x="548640" y="45720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Returns every job posted by employer 103 (CloudEdge) — 1 row returned.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6309360" y="1298448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GetAppByStatus(status)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6309360" y="1645920"/>
            <a:ext cx="5349240" cy="2148840"/>
          </a:xfrm>
          <a:prstGeom prst="roundRect">
            <a:avLst>
              <a:gd fmla="val 3404" name="adj"/>
            </a:avLst>
          </a:prstGeom>
          <a:solidFill>
            <a:srgbClr val="0B2545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 txBox="1"/>
          <p:nvPr/>
        </p:nvSpPr>
        <p:spPr>
          <a:xfrm>
            <a:off x="6510528" y="1773936"/>
            <a:ext cx="4946904" cy="1892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DELIMITER //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CREATE PROCEDURE GetAppByStatus(IN app_status VARCHAR(50))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  SELECT * FROM Applications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  WHERE status = app_status;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END //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CALL pfs37.GetAppByStatus('applied');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1" name="Google Shape;211;p10"/>
          <p:cNvGraphicFramePr/>
          <p:nvPr/>
        </p:nvGraphicFramePr>
        <p:xfrm>
          <a:off x="6309360" y="3913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{9338AD21-213C-44FD-ACDC-7BFAC6105FCD}</a:tableStyleId>
              </a:tblPr>
              <a:tblGrid>
                <a:gridCol w="1280150"/>
                <a:gridCol w="1097275"/>
                <a:gridCol w="914400"/>
                <a:gridCol w="1234450"/>
                <a:gridCol w="822950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application_id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candidate_id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job_id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application_date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Applied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Applied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Applied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2026-09-06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applied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212" name="Google Shape;212;p10"/>
          <p:cNvSpPr txBox="1"/>
          <p:nvPr/>
        </p:nvSpPr>
        <p:spPr>
          <a:xfrm>
            <a:off x="6309360" y="5212080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Returns every application with the given status — 4 rows returned.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548640" y="5577840"/>
            <a:ext cx="11109960" cy="960120"/>
          </a:xfrm>
          <a:prstGeom prst="roundRect">
            <a:avLst>
              <a:gd fmla="val 9524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777240" y="5742432"/>
            <a:ext cx="457200" cy="45720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 txBox="1"/>
          <p:nvPr/>
        </p:nvSpPr>
        <p:spPr>
          <a:xfrm>
            <a:off x="777240" y="57424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1371600" y="5623560"/>
            <a:ext cx="10058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7414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7414A"/>
                </a:solidFill>
                <a:latin typeface="Calibri"/>
                <a:ea typeface="Calibri"/>
                <a:cs typeface="Calibri"/>
                <a:sym typeface="Calibri"/>
              </a:rPr>
              <a:t>Stored procedures wrap a parameterized query behind a single CALL — the same lookup logic runs consistently for any employer or status without rewriting SQL.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 txBox="1"/>
          <p:nvPr/>
        </p:nvSpPr>
        <p:spPr>
          <a:xfrm>
            <a:off x="777240" y="2468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AUTOMATED AUDITING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777240" y="493776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Triggers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10561320" y="457200"/>
            <a:ext cx="1554480" cy="292608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 txBox="1"/>
          <p:nvPr/>
        </p:nvSpPr>
        <p:spPr>
          <a:xfrm>
            <a:off x="10561320" y="45720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#39-40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11"/>
          <p:cNvCxnSpPr/>
          <p:nvPr/>
        </p:nvCxnSpPr>
        <p:spPr>
          <a:xfrm>
            <a:off x="457200" y="1170432"/>
            <a:ext cx="11292840" cy="0"/>
          </a:xfrm>
          <a:prstGeom prst="straightConnector1">
            <a:avLst/>
          </a:prstGeom>
          <a:noFill/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11"/>
          <p:cNvSpPr txBox="1"/>
          <p:nvPr/>
        </p:nvSpPr>
        <p:spPr>
          <a:xfrm>
            <a:off x="548640" y="129844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trg_application_log  ·  AFTER INSERT ON Applications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548640" y="1645920"/>
            <a:ext cx="5486400" cy="2148840"/>
          </a:xfrm>
          <a:prstGeom prst="roundRect">
            <a:avLst>
              <a:gd fmla="val 3404" name="adj"/>
            </a:avLst>
          </a:prstGeom>
          <a:solidFill>
            <a:srgbClr val="0B2545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 txBox="1"/>
          <p:nvPr/>
        </p:nvSpPr>
        <p:spPr>
          <a:xfrm>
            <a:off x="749808" y="1773936"/>
            <a:ext cx="5084064" cy="1892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CREATE TRIGGER trg_application_log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AFTER INSERT ON Applications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FOR EACH ROW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  INSERT INTO Application_Log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    (application_id, candidate_id, job_id, application_date)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  VALUES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    (NEW.application_id, NEW.candidate_id,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     NEW.job_id, NEW.application_date);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END //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1" name="Google Shape;231;p11"/>
          <p:cNvGraphicFramePr/>
          <p:nvPr/>
        </p:nvGraphicFramePr>
        <p:xfrm>
          <a:off x="548640" y="3931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{9338AD21-213C-44FD-ACDC-7BFAC6105FCD}</a:tableStyleId>
              </a:tblPr>
              <a:tblGrid>
                <a:gridCol w="731525"/>
                <a:gridCol w="1280150"/>
                <a:gridCol w="1188725"/>
                <a:gridCol w="731525"/>
                <a:gridCol w="1554475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log_id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application_id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candidate_id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job_id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application_date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2026-09-06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2" name="Google Shape;232;p11"/>
          <p:cNvSpPr txBox="1"/>
          <p:nvPr/>
        </p:nvSpPr>
        <p:spPr>
          <a:xfrm>
            <a:off x="548640" y="4590288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Inserting application #11 auto-logged its details into Application_Log — no application code required.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6309360" y="1298448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trg_interview_archive  ·  BEFORE DELETE ON Interviews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6309360" y="1645920"/>
            <a:ext cx="5349240" cy="2148840"/>
          </a:xfrm>
          <a:prstGeom prst="roundRect">
            <a:avLst>
              <a:gd fmla="val 3404" name="adj"/>
            </a:avLst>
          </a:prstGeom>
          <a:solidFill>
            <a:srgbClr val="0B2545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 txBox="1"/>
          <p:nvPr/>
        </p:nvSpPr>
        <p:spPr>
          <a:xfrm>
            <a:off x="6510528" y="1773936"/>
            <a:ext cx="4946904" cy="1892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CREATE TRIGGER trg_interview_archive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BEFORE DELETE ON Interviews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FOR EACH ROW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  INSERT INTO Interview_Archive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    (interview_id, application_id, interview_date,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     mode, result)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  VALUES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    (OLD.interview_id, OLD.application_id,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     OLD.interview_date, OLD.mode, OLD.result);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FE8F3"/>
                </a:solidFill>
                <a:latin typeface="Courier New"/>
                <a:ea typeface="Courier New"/>
                <a:cs typeface="Courier New"/>
                <a:sym typeface="Courier New"/>
              </a:rPr>
              <a:t>END //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6" name="Google Shape;236;p11"/>
          <p:cNvGraphicFramePr/>
          <p:nvPr/>
        </p:nvGraphicFramePr>
        <p:xfrm>
          <a:off x="6309360" y="3931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{9338AD21-213C-44FD-ACDC-7BFAC6105FCD}</a:tableStyleId>
              </a:tblPr>
              <a:tblGrid>
                <a:gridCol w="777250"/>
                <a:gridCol w="868675"/>
                <a:gridCol w="960125"/>
                <a:gridCol w="1051550"/>
                <a:gridCol w="777250"/>
                <a:gridCol w="914400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archive_id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interview_id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application_id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interview_date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2026-07-05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7" name="Google Shape;237;p11"/>
          <p:cNvSpPr txBox="1"/>
          <p:nvPr/>
        </p:nvSpPr>
        <p:spPr>
          <a:xfrm>
            <a:off x="6309360" y="4590288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Deleting interview #201 auto-archived its full record before removal — nothing is lost.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548640" y="5257800"/>
            <a:ext cx="11109960" cy="1280160"/>
          </a:xfrm>
          <a:prstGeom prst="roundRect">
            <a:avLst>
              <a:gd fmla="val 7143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822960" y="5468112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 txBox="1"/>
          <p:nvPr/>
        </p:nvSpPr>
        <p:spPr>
          <a:xfrm>
            <a:off x="822960" y="54681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1508760" y="5349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triggers matter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1508760" y="5605272"/>
            <a:ext cx="9784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Triggers fire automatically on INSERT or DELETE events, so auditing and archival happen inside the database itself — every new application is logged and every deleted interview is preserved, with zero extra application-level code.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 txBox="1"/>
          <p:nvPr/>
        </p:nvSpPr>
        <p:spPr>
          <a:xfrm>
            <a:off x="777240" y="2468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PROJECT DETAILS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 txBox="1"/>
          <p:nvPr/>
        </p:nvSpPr>
        <p:spPr>
          <a:xfrm>
            <a:off x="777240" y="493776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Tech Stack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12"/>
          <p:cNvCxnSpPr/>
          <p:nvPr/>
        </p:nvCxnSpPr>
        <p:spPr>
          <a:xfrm>
            <a:off x="457200" y="1170432"/>
            <a:ext cx="11292840" cy="0"/>
          </a:xfrm>
          <a:prstGeom prst="straightConnector1">
            <a:avLst/>
          </a:prstGeom>
          <a:noFill/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52" name="Google Shape;252;p12"/>
          <p:cNvGraphicFramePr/>
          <p:nvPr/>
        </p:nvGraphicFramePr>
        <p:xfrm>
          <a:off x="54864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{9338AD21-213C-44FD-ACDC-7BFAC6105FCD}</a:tableStyleId>
              </a:tblPr>
              <a:tblGrid>
                <a:gridCol w="4114800"/>
                <a:gridCol w="6995150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Technology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Database Engine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MySQL (8.x recommended)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Query Language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SQL (DDL, DML, DCL, TCL)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Procedural Logic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Stored Procedures &amp; Triggers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Diagramming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 Diagram (Crow's Foot notation)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 Tools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33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A3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MySQL Workbench / MySQL CLI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457200" y="502920"/>
            <a:ext cx="201168" cy="20116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 txBox="1"/>
          <p:nvPr/>
        </p:nvSpPr>
        <p:spPr>
          <a:xfrm>
            <a:off x="777240" y="384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777240" y="64008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Complete, Query-Ready Job Portal Database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640080" y="1600200"/>
            <a:ext cx="10881360" cy="1051560"/>
          </a:xfrm>
          <a:prstGeom prst="roundRect">
            <a:avLst>
              <a:gd fmla="val 8696" name="adj"/>
            </a:avLst>
          </a:prstGeom>
          <a:solidFill>
            <a:srgbClr val="065A82">
              <a:alpha val="80000"/>
            </a:srgbClr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868680" y="1856232"/>
            <a:ext cx="548640" cy="5486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 txBox="1"/>
          <p:nvPr/>
        </p:nvSpPr>
        <p:spPr>
          <a:xfrm>
            <a:off x="868680" y="18562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1691640" y="1709928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Normalized schema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 txBox="1"/>
          <p:nvPr/>
        </p:nvSpPr>
        <p:spPr>
          <a:xfrm>
            <a:off x="5760720" y="1691640"/>
            <a:ext cx="5577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Five linked tables (Candidates, Employers, Jobs, Applications, Interviews) enforce referential integrity end to end.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640080" y="2788920"/>
            <a:ext cx="10881360" cy="1051560"/>
          </a:xfrm>
          <a:prstGeom prst="roundRect">
            <a:avLst>
              <a:gd fmla="val 8696" name="adj"/>
            </a:avLst>
          </a:prstGeom>
          <a:solidFill>
            <a:srgbClr val="065A82">
              <a:alpha val="80000"/>
            </a:srgbClr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868680" y="3044952"/>
            <a:ext cx="548640" cy="5486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 txBox="1"/>
          <p:nvPr/>
        </p:nvSpPr>
        <p:spPr>
          <a:xfrm>
            <a:off x="868680" y="30449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 txBox="1"/>
          <p:nvPr/>
        </p:nvSpPr>
        <p:spPr>
          <a:xfrm>
            <a:off x="1691640" y="2898648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 business queries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 txBox="1"/>
          <p:nvPr/>
        </p:nvSpPr>
        <p:spPr>
          <a:xfrm>
            <a:off x="5760720" y="2880360"/>
            <a:ext cx="5577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From basic filters and string/date functions to aggregations, multi-table joins, and outer-join gap analysis.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640080" y="3977640"/>
            <a:ext cx="10881360" cy="1051560"/>
          </a:xfrm>
          <a:prstGeom prst="roundRect">
            <a:avLst>
              <a:gd fmla="val 8696" name="adj"/>
            </a:avLst>
          </a:prstGeom>
          <a:solidFill>
            <a:srgbClr val="065A82">
              <a:alpha val="80000"/>
            </a:srgbClr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868680" y="4233672"/>
            <a:ext cx="548640" cy="5486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 txBox="1"/>
          <p:nvPr/>
        </p:nvSpPr>
        <p:spPr>
          <a:xfrm>
            <a:off x="868680" y="423367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 txBox="1"/>
          <p:nvPr/>
        </p:nvSpPr>
        <p:spPr>
          <a:xfrm>
            <a:off x="1691640" y="4087368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Views for reporting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 txBox="1"/>
          <p:nvPr/>
        </p:nvSpPr>
        <p:spPr>
          <a:xfrm>
            <a:off x="5760720" y="4069080"/>
            <a:ext cx="5577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Selected_Candidates and active_job_postingss package recurring joins into reusable, always-current tables.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640080" y="5166360"/>
            <a:ext cx="10881360" cy="1051560"/>
          </a:xfrm>
          <a:prstGeom prst="roundRect">
            <a:avLst>
              <a:gd fmla="val 8696" name="adj"/>
            </a:avLst>
          </a:prstGeom>
          <a:solidFill>
            <a:srgbClr val="065A82">
              <a:alpha val="80000"/>
            </a:srgbClr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 txBox="1"/>
          <p:nvPr/>
        </p:nvSpPr>
        <p:spPr>
          <a:xfrm>
            <a:off x="868680" y="54223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 txBox="1"/>
          <p:nvPr/>
        </p:nvSpPr>
        <p:spPr>
          <a:xfrm>
            <a:off x="1691640" y="5276088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Automation built in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 txBox="1"/>
          <p:nvPr/>
        </p:nvSpPr>
        <p:spPr>
          <a:xfrm>
            <a:off x="5760720" y="5257800"/>
            <a:ext cx="5577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Transactions guarantee atomic updates; procedures reuse lookup logic; triggers auto-log and auto-archive.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9B8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8FA9B8"/>
                </a:solidFill>
                <a:latin typeface="Calibri"/>
                <a:ea typeface="Calibri"/>
                <a:cs typeface="Calibri"/>
                <a:sym typeface="Calibri"/>
              </a:rPr>
              <a:t>Ready to plug into any backend — a pure database-layer implementation with no application code required.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2026-09-09T06:11:26Z</dcterms:created>
  <dc:creator>PptxGenJS</dc:creator>
</cp:coreProperties>
</file>